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ere" id="{9781e5cd-a34f-3e3a-0592-1d9bfb04cc96}">
          <p14:sldIdLst>
            <p14:sldId id="256"/>
            <p14:sldId id="257"/>
          </p14:sldIdLst>
        </p14:section>
        <p14:section name="Cum funcționează" id="{d607448a-7a61-6510-e9b2-befce890bd3b}">
          <p14:sldIdLst>
            <p14:sldId id="258"/>
            <p14:sldId id="259"/>
            <p14:sldId id="260"/>
            <p14:sldId id="261"/>
          </p14:sldIdLst>
        </p14:section>
        <p14:section name="Securitate și calitate" id="{a8d4822b-9c8f-71ab-1c93-226ddb8169a8}">
          <p14:sldIdLst>
            <p14:sldId id="262"/>
            <p14:sldId id="263"/>
            <p14:sldId id="264"/>
          </p14:sldIdLst>
        </p14:section>
        <p14:section name="Ce urmează" id="{d527ea62-ffe6-f359-0a3b-6e9401f5b9f8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Prezentăm v7: firmele pot publica, modifica și șterge propriile joburi pe peviitor.ro printr-o cheie API pe care și-o generează singure.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Contextul: joburile vin acum din scraping. v7 adaugă un canal direct și sigur pentru 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Pașii 1 și 3 sunt simulați deocamdată: sistemul extern și trimiterea emailului vin la integrare, prin două funcții dedicate.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intrare cu email, generare cheie, copiere, revocare. Exemplele nu conțin niciodată cheia.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Autentificare: header X-Api-Key. Firma nu poate trimite company sau cif, le setăm noi din cheie.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Fără url propriu nu se poate posta: peviitor trimite candidatul pe pagina firmei. Detectarea după titlu și locație a fost scoasă intenționat.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de securitate pe codul v7: nicio vulnerabilitate raportabilă. Riscurile rămase sunt în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Joburile rămân în core-ul job, marcate source: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Testele unit și de integrare rulează cu bash tests/run.sh în containerul apache.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Punctul 4 trebuie verificat cu echipa de frontend înainte de lansare.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local: http://localhost:8081/api/v7/panel/ și site-ul pe http://localhost:8081/.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omes\AppData\Local\Temp\claude\C--volunteer\603584dd-30c7-42fd-867d-9c53379329df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51941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omes\AppData\Local\Temp\claude\C--volunteer\603584dd-30c7-42fd-867d-9c53379329df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914400" cy="2733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77A"/>
                </a:solidFill>
              </a:rPr>
              <a:t>Modul v7 · oferit și validat de peviitor.ro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Firmele își publică singure joburile pe peviitor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4023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Chei API pentru companii, panou self-service și API pentru joburi</a:t>
            </a:r>
            <a:endParaRPr lang="en-US" sz="1800" dirty="0"/>
          </a:p>
        </p:txBody>
      </p:sp>
      <p:sp>
        <p:nvSpPr>
          <p:cNvPr id="4" name="tag"/>
          <p:cNvSpPr/>
          <p:nvPr/>
        </p:nvSpPr>
        <p:spPr>
          <a:xfrm>
            <a:off x="548640" y="5212080"/>
            <a:ext cx="42062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"/>
          <p:cNvSpPr txBox="1"/>
          <p:nvPr/>
        </p:nvSpPr>
        <p:spPr>
          <a:xfrm>
            <a:off x="548640" y="5212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 modul oferit și validat de peviitor.ro</a:t>
            </a:r>
            <a:endParaRPr lang="en-US" sz="1300" dirty="0"/>
          </a:p>
        </p:txBody>
      </p:sp>
      <p:pic>
        <p:nvPicPr>
          <p:cNvPr id="6" name="rocket" descr="C:\Users\tomes\AppData\Local\Temp\claude\C--volunteer\603584dd-30c7-42fd-867d-9c53379329df\scratchpad\deck\assets\rach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394960" cy="36014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ce v7</a:t>
            </a:r>
            <a:endParaRPr lang="en-US" sz="3200" dirty="0"/>
          </a:p>
        </p:txBody>
      </p:sp>
      <p:sp>
        <p:nvSpPr>
          <p:cNvPr id="3" name="card-2"/>
          <p:cNvSpPr/>
          <p:nvPr/>
        </p:nvSpPr>
        <p:spPr>
          <a:xfrm>
            <a:off x="54864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3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4"/>
          <p:cNvSpPr txBox="1"/>
          <p:nvPr/>
        </p:nvSpPr>
        <p:spPr>
          <a:xfrm>
            <a:off x="86868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Azi</a:t>
            </a:r>
            <a:endParaRPr lang="en-US" sz="2200" dirty="0"/>
          </a:p>
        </p:txBody>
      </p:sp>
      <p:sp>
        <p:nvSpPr>
          <p:cNvPr id="7" name="text-5"/>
          <p:cNvSpPr txBox="1"/>
          <p:nvPr/>
        </p:nvSpPr>
        <p:spPr>
          <a:xfrm>
            <a:off x="868680" y="32461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Joburile ajung pe peviitor doar prin scraping, cu întârziere și uneori incomplet.</a:t>
            </a:r>
            <a:endParaRPr lang="en-US" sz="1600" dirty="0"/>
          </a:p>
        </p:txBody>
      </p:sp>
      <p:sp>
        <p:nvSpPr>
          <p:cNvPr id="8" name="card-6"/>
          <p:cNvSpPr/>
          <p:nvPr/>
        </p:nvSpPr>
        <p:spPr>
          <a:xfrm>
            <a:off x="429768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-7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7"/>
          <p:cNvSpPr txBox="1"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8"/>
          <p:cNvSpPr txBox="1"/>
          <p:nvPr/>
        </p:nvSpPr>
        <p:spPr>
          <a:xfrm>
            <a:off x="461772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Nevoie</a:t>
            </a:r>
            <a:endParaRPr lang="en-US" sz="2200" dirty="0"/>
          </a:p>
        </p:txBody>
      </p:sp>
      <p:sp>
        <p:nvSpPr>
          <p:cNvPr id="12" name="text-9"/>
          <p:cNvSpPr txBox="1"/>
          <p:nvPr/>
        </p:nvSpPr>
        <p:spPr>
          <a:xfrm>
            <a:off x="4617720" y="32461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Firmele vor să-și publice direct joburile, din ATS-ul sau aplicația lor.</a:t>
            </a:r>
            <a:endParaRPr lang="en-US" sz="1600" dirty="0"/>
          </a:p>
        </p:txBody>
      </p:sp>
      <p:sp>
        <p:nvSpPr>
          <p:cNvPr id="13" name="card-10"/>
          <p:cNvSpPr/>
          <p:nvPr/>
        </p:nvSpPr>
        <p:spPr>
          <a:xfrm>
            <a:off x="804672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-11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11"/>
          <p:cNvSpPr txBox="1"/>
          <p:nvPr/>
        </p:nvSpPr>
        <p:spPr>
          <a:xfrm>
            <a:off x="8366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12"/>
          <p:cNvSpPr txBox="1"/>
          <p:nvPr/>
        </p:nvSpPr>
        <p:spPr>
          <a:xfrm>
            <a:off x="836676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Soluție</a:t>
            </a:r>
            <a:endParaRPr lang="en-US" sz="2200" dirty="0"/>
          </a:p>
        </p:txBody>
      </p:sp>
      <p:sp>
        <p:nvSpPr>
          <p:cNvPr id="17" name="text-13"/>
          <p:cNvSpPr txBox="1"/>
          <p:nvPr/>
        </p:nvSpPr>
        <p:spPr>
          <a:xfrm>
            <a:off x="8366760" y="32461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cheie API per firmă, generată self-service, cu care firma gestionează doar joburile ei.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Fluxul complet, de la email la job publicat</a:t>
            </a:r>
            <a:endParaRPr lang="en-US" sz="3200" dirty="0"/>
          </a:p>
        </p:txBody>
      </p:sp>
      <p:sp>
        <p:nvSpPr>
          <p:cNvPr id="3" name="card-14"/>
          <p:cNvSpPr/>
          <p:nvPr/>
        </p:nvSpPr>
        <p:spPr>
          <a:xfrm>
            <a:off x="548640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5"/>
          <p:cNvSpPr/>
          <p:nvPr/>
        </p:nvSpPr>
        <p:spPr>
          <a:xfrm>
            <a:off x="130302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5"/>
          <p:cNvSpPr txBox="1"/>
          <p:nvPr/>
        </p:nvSpPr>
        <p:spPr>
          <a:xfrm>
            <a:off x="13030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16"/>
          <p:cNvSpPr txBox="1"/>
          <p:nvPr/>
        </p:nvSpPr>
        <p:spPr>
          <a:xfrm>
            <a:off x="731520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Autorizare</a:t>
            </a:r>
            <a:endParaRPr lang="en-US" sz="1800" dirty="0"/>
          </a:p>
        </p:txBody>
      </p:sp>
      <p:sp>
        <p:nvSpPr>
          <p:cNvPr id="7" name="text-17"/>
          <p:cNvSpPr txBox="1"/>
          <p:nvPr/>
        </p:nvSpPr>
        <p:spPr>
          <a:xfrm>
            <a:off x="731520" y="3474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Sistemul extern autorizează emailul pentru firmă (CIF)</a:t>
            </a:r>
            <a:endParaRPr lang="en-US" sz="1400" dirty="0"/>
          </a:p>
        </p:txBody>
      </p:sp>
      <p:sp>
        <p:nvSpPr>
          <p:cNvPr id="8" name="arrow-0"/>
          <p:cNvSpPr/>
          <p:nvPr/>
        </p:nvSpPr>
        <p:spPr>
          <a:xfrm>
            <a:off x="2651760" y="320040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18"/>
          <p:cNvSpPr/>
          <p:nvPr/>
        </p:nvSpPr>
        <p:spPr>
          <a:xfrm>
            <a:off x="2852928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-19"/>
          <p:cNvSpPr/>
          <p:nvPr/>
        </p:nvSpPr>
        <p:spPr>
          <a:xfrm>
            <a:off x="3607308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ext-19"/>
          <p:cNvSpPr txBox="1"/>
          <p:nvPr/>
        </p:nvSpPr>
        <p:spPr>
          <a:xfrm>
            <a:off x="360730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20"/>
          <p:cNvSpPr txBox="1"/>
          <p:nvPr/>
        </p:nvSpPr>
        <p:spPr>
          <a:xfrm>
            <a:off x="3035808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Email</a:t>
            </a:r>
            <a:endParaRPr lang="en-US" sz="1800" dirty="0"/>
          </a:p>
        </p:txBody>
      </p:sp>
      <p:sp>
        <p:nvSpPr>
          <p:cNvPr id="13" name="text-21"/>
          <p:cNvSpPr txBox="1"/>
          <p:nvPr/>
        </p:nvSpPr>
        <p:spPr>
          <a:xfrm>
            <a:off x="3035808" y="3474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Firma își introduce emailul în panou</a:t>
            </a:r>
            <a:endParaRPr lang="en-US" sz="1400" dirty="0"/>
          </a:p>
        </p:txBody>
      </p:sp>
      <p:sp>
        <p:nvSpPr>
          <p:cNvPr id="14" name="arrow-1"/>
          <p:cNvSpPr/>
          <p:nvPr/>
        </p:nvSpPr>
        <p:spPr>
          <a:xfrm>
            <a:off x="4956048" y="320040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-22"/>
          <p:cNvSpPr/>
          <p:nvPr/>
        </p:nvSpPr>
        <p:spPr>
          <a:xfrm>
            <a:off x="5157216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-23"/>
          <p:cNvSpPr/>
          <p:nvPr/>
        </p:nvSpPr>
        <p:spPr>
          <a:xfrm>
            <a:off x="5911596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ext-23"/>
          <p:cNvSpPr txBox="1"/>
          <p:nvPr/>
        </p:nvSpPr>
        <p:spPr>
          <a:xfrm>
            <a:off x="591159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-24"/>
          <p:cNvSpPr txBox="1"/>
          <p:nvPr/>
        </p:nvSpPr>
        <p:spPr>
          <a:xfrm>
            <a:off x="5340096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Link unic</a:t>
            </a:r>
            <a:endParaRPr lang="en-US" sz="1800" dirty="0"/>
          </a:p>
        </p:txBody>
      </p:sp>
      <p:sp>
        <p:nvSpPr>
          <p:cNvPr id="19" name="text-25"/>
          <p:cNvSpPr txBox="1"/>
          <p:nvPr/>
        </p:nvSpPr>
        <p:spPr>
          <a:xfrm>
            <a:off x="5340096" y="3474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Primește un link de acces valabil 15 minute</a:t>
            </a:r>
            <a:endParaRPr lang="en-US" sz="1400" dirty="0"/>
          </a:p>
        </p:txBody>
      </p:sp>
      <p:sp>
        <p:nvSpPr>
          <p:cNvPr id="20" name="arrow-2"/>
          <p:cNvSpPr/>
          <p:nvPr/>
        </p:nvSpPr>
        <p:spPr>
          <a:xfrm>
            <a:off x="7260336" y="320040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ard-26"/>
          <p:cNvSpPr/>
          <p:nvPr/>
        </p:nvSpPr>
        <p:spPr>
          <a:xfrm>
            <a:off x="7461504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-27"/>
          <p:cNvSpPr/>
          <p:nvPr/>
        </p:nvSpPr>
        <p:spPr>
          <a:xfrm>
            <a:off x="8215884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-text-27"/>
          <p:cNvSpPr txBox="1"/>
          <p:nvPr/>
        </p:nvSpPr>
        <p:spPr>
          <a:xfrm>
            <a:off x="821588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-28"/>
          <p:cNvSpPr txBox="1"/>
          <p:nvPr/>
        </p:nvSpPr>
        <p:spPr>
          <a:xfrm>
            <a:off x="7644384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Cheie</a:t>
            </a:r>
            <a:endParaRPr lang="en-US" sz="1800" dirty="0"/>
          </a:p>
        </p:txBody>
      </p:sp>
      <p:sp>
        <p:nvSpPr>
          <p:cNvPr id="25" name="text-29"/>
          <p:cNvSpPr txBox="1"/>
          <p:nvPr/>
        </p:nvSpPr>
        <p:spPr>
          <a:xfrm>
            <a:off x="7644384" y="3474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Generează cheia API în panou</a:t>
            </a:r>
            <a:endParaRPr lang="en-US" sz="1400" dirty="0"/>
          </a:p>
        </p:txBody>
      </p:sp>
      <p:sp>
        <p:nvSpPr>
          <p:cNvPr id="26" name="arrow-3"/>
          <p:cNvSpPr/>
          <p:nvPr/>
        </p:nvSpPr>
        <p:spPr>
          <a:xfrm>
            <a:off x="9564624" y="3200400"/>
            <a:ext cx="155448" cy="2743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card-30"/>
          <p:cNvSpPr/>
          <p:nvPr/>
        </p:nvSpPr>
        <p:spPr>
          <a:xfrm>
            <a:off x="9765792" y="2011680"/>
            <a:ext cx="2057400" cy="26517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dge-31"/>
          <p:cNvSpPr/>
          <p:nvPr/>
        </p:nvSpPr>
        <p:spPr>
          <a:xfrm>
            <a:off x="10520172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badge-text-31"/>
          <p:cNvSpPr txBox="1"/>
          <p:nvPr/>
        </p:nvSpPr>
        <p:spPr>
          <a:xfrm>
            <a:off x="1052017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-32"/>
          <p:cNvSpPr txBox="1"/>
          <p:nvPr/>
        </p:nvSpPr>
        <p:spPr>
          <a:xfrm>
            <a:off x="9948672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Joburi</a:t>
            </a:r>
            <a:endParaRPr lang="en-US" sz="1800" dirty="0"/>
          </a:p>
        </p:txBody>
      </p:sp>
      <p:sp>
        <p:nvSpPr>
          <p:cNvPr id="31" name="text-33"/>
          <p:cNvSpPr txBox="1"/>
          <p:nvPr/>
        </p:nvSpPr>
        <p:spPr>
          <a:xfrm>
            <a:off x="9948672" y="34747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Publică joburi cu cheia pe /v7/jobs/</a:t>
            </a:r>
            <a:endParaRPr lang="en-US" sz="1400" dirty="0"/>
          </a:p>
        </p:txBody>
      </p:sp>
      <p:sp>
        <p:nvSpPr>
          <p:cNvPr id="32" name="text-34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Stub acum: autorizarea o face un admin din CLI, iar linkul apare pe pagină în loc să fie trimis pe email.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Panoul pentru companii: /v7/panel/</a:t>
            </a:r>
            <a:endParaRPr lang="en-US" sz="3200" dirty="0"/>
          </a:p>
        </p:txBody>
      </p:sp>
      <p:sp>
        <p:nvSpPr>
          <p:cNvPr id="3" name="card-35"/>
          <p:cNvSpPr/>
          <p:nvPr/>
        </p:nvSpPr>
        <p:spPr>
          <a:xfrm>
            <a:off x="548640" y="1600200"/>
            <a:ext cx="53035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36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36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37"/>
          <p:cNvSpPr txBox="1"/>
          <p:nvPr/>
        </p:nvSpPr>
        <p:spPr>
          <a:xfrm>
            <a:off x="160020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singură cheie activă</a:t>
            </a:r>
            <a:endParaRPr lang="en-US" sz="2000" dirty="0"/>
          </a:p>
        </p:txBody>
      </p:sp>
      <p:sp>
        <p:nvSpPr>
          <p:cNvPr id="7" name="text-38"/>
          <p:cNvSpPr txBox="1"/>
          <p:nvPr/>
        </p:nvSpPr>
        <p:spPr>
          <a:xfrm>
            <a:off x="1600200" y="25146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Pentru o cheie nouă, firma o revocă întâi pe cea existentă</a:t>
            </a:r>
            <a:endParaRPr lang="en-US" sz="1500" dirty="0"/>
          </a:p>
        </p:txBody>
      </p:sp>
      <p:sp>
        <p:nvSpPr>
          <p:cNvPr id="8" name="card-39"/>
          <p:cNvSpPr/>
          <p:nvPr/>
        </p:nvSpPr>
        <p:spPr>
          <a:xfrm>
            <a:off x="6126480" y="1600200"/>
            <a:ext cx="53035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-40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40"/>
          <p:cNvSpPr txBox="1"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41"/>
          <p:cNvSpPr txBox="1"/>
          <p:nvPr/>
        </p:nvSpPr>
        <p:spPr>
          <a:xfrm>
            <a:off x="717804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Afișată o singură dată</a:t>
            </a:r>
            <a:endParaRPr lang="en-US" sz="2000" dirty="0"/>
          </a:p>
        </p:txBody>
      </p:sp>
      <p:sp>
        <p:nvSpPr>
          <p:cNvPr id="12" name="text-42"/>
          <p:cNvSpPr txBox="1"/>
          <p:nvPr/>
        </p:nvSpPr>
        <p:spPr>
          <a:xfrm>
            <a:off x="7178040" y="25146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Buton de copiere și avertisment să o salveze; noi păstrăm doar hash-ul</a:t>
            </a:r>
            <a:endParaRPr lang="en-US" sz="1500" dirty="0"/>
          </a:p>
        </p:txBody>
      </p:sp>
      <p:sp>
        <p:nvSpPr>
          <p:cNvPr id="13" name="card-43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-44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44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45"/>
          <p:cNvSpPr txBox="1"/>
          <p:nvPr/>
        </p:nvSpPr>
        <p:spPr>
          <a:xfrm>
            <a:off x="160020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Revocare cu confirmare</a:t>
            </a:r>
            <a:endParaRPr lang="en-US" sz="2000" dirty="0"/>
          </a:p>
        </p:txBody>
      </p:sp>
      <p:sp>
        <p:nvSpPr>
          <p:cNvPr id="17" name="text-46"/>
          <p:cNvSpPr txBox="1"/>
          <p:nvPr/>
        </p:nvSpPr>
        <p:spPr>
          <a:xfrm>
            <a:off x="160020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Dialog în pagină; efectul e imediat (401 pe API)</a:t>
            </a:r>
            <a:endParaRPr lang="en-US" sz="1500" dirty="0"/>
          </a:p>
        </p:txBody>
      </p:sp>
      <p:sp>
        <p:nvSpPr>
          <p:cNvPr id="18" name="card-47"/>
          <p:cNvSpPr/>
          <p:nvPr/>
        </p:nvSpPr>
        <p:spPr>
          <a:xfrm>
            <a:off x="6126480" y="3840480"/>
            <a:ext cx="53035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-48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48"/>
          <p:cNvSpPr txBox="1"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-49"/>
          <p:cNvSpPr txBox="1"/>
          <p:nvPr/>
        </p:nvSpPr>
        <p:spPr>
          <a:xfrm>
            <a:off x="717804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Exemple gata de folosit</a:t>
            </a:r>
            <a:endParaRPr lang="en-US" sz="2000" dirty="0"/>
          </a:p>
        </p:txBody>
      </p:sp>
      <p:sp>
        <p:nvSpPr>
          <p:cNvPr id="22" name="text-50"/>
          <p:cNvSpPr txBox="1"/>
          <p:nvPr/>
        </p:nvSpPr>
        <p:spPr>
          <a:xfrm>
            <a:off x="717804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curl pentru GET, POST, PUT, DELETE și colecție Postman descărcabilă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API-ul /v7/jobs/: firma își gestionează joburile</a:t>
            </a:r>
            <a:endParaRPr lang="en-US" sz="3200" dirty="0"/>
          </a:p>
        </p:txBody>
      </p:sp>
      <p:graphicFrame>
        <p:nvGraphicFramePr>
          <p:cNvPr id="6" name="api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Metodă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 face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9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GET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Listează joburile publicate de firmă prin v7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POST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Adaugă unul sau mai multe joburi (max 100, totul sau nimic)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PUT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Modifică un job, după url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DELETE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B464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Șterge un job, după url (în body sau query)</a:t>
                      </a:r>
                      <a:endParaRPr lang="en-US" sz="15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51"/>
          <p:cNvSpPr/>
          <p:nvPr/>
        </p:nvSpPr>
        <p:spPr>
          <a:xfrm>
            <a:off x="7498080" y="1600200"/>
            <a:ext cx="41148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-52"/>
          <p:cNvSpPr txBox="1"/>
          <p:nvPr/>
        </p:nvSpPr>
        <p:spPr>
          <a:xfrm>
            <a:off x="781812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Câmpuri obligatorii</a:t>
            </a:r>
            <a:endParaRPr lang="en-US" sz="2000" dirty="0"/>
          </a:p>
        </p:txBody>
      </p:sp>
      <p:sp>
        <p:nvSpPr>
          <p:cNvPr id="6" name="text-53"/>
          <p:cNvSpPr txBox="1"/>
          <p:nvPr/>
        </p:nvSpPr>
        <p:spPr>
          <a:xfrm>
            <a:off x="781812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url — linkul unde candidatul aplică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title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location</a:t>
            </a:r>
            <a:endParaRPr lang="en-US" sz="1500" dirty="0"/>
          </a:p>
        </p:txBody>
      </p:sp>
      <p:sp>
        <p:nvSpPr>
          <p:cNvPr id="7" name="text-54"/>
          <p:cNvSpPr txBox="1"/>
          <p:nvPr/>
        </p:nvSpPr>
        <p:spPr>
          <a:xfrm>
            <a:off x="781812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Opționale: workmode, tags.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Firma și CIF-ul se iau din cheie, nu din request.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Reguli de date: url-ul este identitatea jobului</a:t>
            </a:r>
            <a:endParaRPr lang="en-US" sz="3200" dirty="0"/>
          </a:p>
        </p:txBody>
      </p:sp>
      <p:sp>
        <p:nvSpPr>
          <p:cNvPr id="3" name="card-55"/>
          <p:cNvSpPr/>
          <p:nvPr/>
        </p:nvSpPr>
        <p:spPr>
          <a:xfrm>
            <a:off x="548640" y="160020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-56"/>
          <p:cNvSpPr txBox="1"/>
          <p:nvPr/>
        </p:nvSpPr>
        <p:spPr>
          <a:xfrm>
            <a:off x="914400" y="17373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409</a:t>
            </a:r>
            <a:endParaRPr lang="en-US" sz="4000" dirty="0"/>
          </a:p>
        </p:txBody>
      </p:sp>
      <p:sp>
        <p:nvSpPr>
          <p:cNvPr id="5" name="text-57"/>
          <p:cNvSpPr txBox="1"/>
          <p:nvPr/>
        </p:nvSpPr>
        <p:spPr>
          <a:xfrm>
            <a:off x="2743200" y="1737360"/>
            <a:ext cx="8534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Același url postat a doua oară → eroare, nu se scrie nimic</a:t>
            </a:r>
            <a:endParaRPr lang="en-US" sz="1800" dirty="0"/>
          </a:p>
        </p:txBody>
      </p:sp>
      <p:sp>
        <p:nvSpPr>
          <p:cNvPr id="6" name="card-58"/>
          <p:cNvSpPr/>
          <p:nvPr/>
        </p:nvSpPr>
        <p:spPr>
          <a:xfrm>
            <a:off x="548640" y="30632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-59"/>
          <p:cNvSpPr txBox="1"/>
          <p:nvPr/>
        </p:nvSpPr>
        <p:spPr>
          <a:xfrm>
            <a:off x="914400" y="32004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403</a:t>
            </a:r>
            <a:endParaRPr lang="en-US" sz="4000" dirty="0"/>
          </a:p>
        </p:txBody>
      </p:sp>
      <p:sp>
        <p:nvSpPr>
          <p:cNvPr id="8" name="text-60"/>
          <p:cNvSpPr txBox="1"/>
          <p:nvPr/>
        </p:nvSpPr>
        <p:spPr>
          <a:xfrm>
            <a:off x="2743200" y="3200400"/>
            <a:ext cx="8534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Jobul altei firme sau unul din scraping nu poate fi modificat sau șters</a:t>
            </a:r>
            <a:endParaRPr lang="en-US" sz="1800" dirty="0"/>
          </a:p>
        </p:txBody>
      </p:sp>
      <p:sp>
        <p:nvSpPr>
          <p:cNvPr id="9" name="card-61"/>
          <p:cNvSpPr/>
          <p:nvPr/>
        </p:nvSpPr>
        <p:spPr>
          <a:xfrm>
            <a:off x="548640" y="452628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-62"/>
          <p:cNvSpPr txBox="1"/>
          <p:nvPr/>
        </p:nvSpPr>
        <p:spPr>
          <a:xfrm>
            <a:off x="914400" y="4663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4000" dirty="0"/>
          </a:p>
        </p:txBody>
      </p:sp>
      <p:sp>
        <p:nvSpPr>
          <p:cNvPr id="11" name="text-63"/>
          <p:cNvSpPr txBox="1"/>
          <p:nvPr/>
        </p:nvSpPr>
        <p:spPr>
          <a:xfrm>
            <a:off x="2743200" y="4663440"/>
            <a:ext cx="8534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Solr scrie doar dacă url-ul nu există (_version_: -1), deci nici două POST-uri simultane nu suprascriu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Securitate din proiectare</a:t>
            </a:r>
            <a:endParaRPr lang="en-US" sz="3200" dirty="0"/>
          </a:p>
        </p:txBody>
      </p:sp>
      <p:sp>
        <p:nvSpPr>
          <p:cNvPr id="3" name="card-64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65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65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66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Hash, nu text clar</a:t>
            </a:r>
            <a:endParaRPr lang="en-US" sz="1700" dirty="0"/>
          </a:p>
        </p:txBody>
      </p:sp>
      <p:sp>
        <p:nvSpPr>
          <p:cNvPr id="7" name="text-67"/>
          <p:cNvSpPr txBox="1"/>
          <p:nvPr/>
        </p:nvSpPr>
        <p:spPr>
          <a:xfrm>
            <a:off x="82296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Cheile și tokenurile de login sunt stocate doar ca SHA-256</a:t>
            </a:r>
            <a:endParaRPr lang="en-US" sz="1400" dirty="0"/>
          </a:p>
        </p:txBody>
      </p:sp>
      <p:sp>
        <p:nvSpPr>
          <p:cNvPr id="8" name="card-68"/>
          <p:cNvSpPr/>
          <p:nvPr/>
        </p:nvSpPr>
        <p:spPr>
          <a:xfrm>
            <a:off x="429768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-69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69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70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Link de unică folosință</a:t>
            </a:r>
            <a:endParaRPr lang="en-US" sz="1700" dirty="0"/>
          </a:p>
        </p:txBody>
      </p:sp>
      <p:sp>
        <p:nvSpPr>
          <p:cNvPr id="12" name="text-71"/>
          <p:cNvSpPr txBox="1"/>
          <p:nvPr/>
        </p:nvSpPr>
        <p:spPr>
          <a:xfrm>
            <a:off x="45720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 minute, consumat doar la click (nu de scannerele de email)</a:t>
            </a:r>
            <a:endParaRPr lang="en-US" sz="1400" dirty="0"/>
          </a:p>
        </p:txBody>
      </p:sp>
      <p:sp>
        <p:nvSpPr>
          <p:cNvPr id="13" name="card-72"/>
          <p:cNvSpPr/>
          <p:nvPr/>
        </p:nvSpPr>
        <p:spPr>
          <a:xfrm>
            <a:off x="804672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-73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73"/>
          <p:cNvSpPr txBox="1"/>
          <p:nvPr/>
        </p:nvSpPr>
        <p:spPr>
          <a:xfrm>
            <a:off x="8321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74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Sesiune protejată</a:t>
            </a:r>
            <a:endParaRPr lang="en-US" sz="1700" dirty="0"/>
          </a:p>
        </p:txBody>
      </p:sp>
      <p:sp>
        <p:nvSpPr>
          <p:cNvPr id="17" name="text-75"/>
          <p:cNvSpPr txBox="1"/>
          <p:nvPr/>
        </p:nvSpPr>
        <p:spPr>
          <a:xfrm>
            <a:off x="832104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Cookie HttpOnly + SameSite=Strict, token CSRF pe fiecare formular, 1 oră</a:t>
            </a:r>
            <a:endParaRPr lang="en-US" sz="1400" dirty="0"/>
          </a:p>
        </p:txBody>
      </p:sp>
      <p:sp>
        <p:nvSpPr>
          <p:cNvPr id="18" name="card-76"/>
          <p:cNvSpPr/>
          <p:nvPr/>
        </p:nvSpPr>
        <p:spPr>
          <a:xfrm>
            <a:off x="54864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-77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77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-78"/>
          <p:cNvSpPr txBox="1"/>
          <p:nvPr/>
        </p:nvSpPr>
        <p:spPr>
          <a:xfrm>
            <a:off x="141732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Limite anti-abuz</a:t>
            </a:r>
            <a:endParaRPr lang="en-US" sz="1700" dirty="0"/>
          </a:p>
        </p:txBody>
      </p:sp>
      <p:sp>
        <p:nvSpPr>
          <p:cNvPr id="22" name="text-79"/>
          <p:cNvSpPr txBox="1"/>
          <p:nvPr/>
        </p:nvSpPr>
        <p:spPr>
          <a:xfrm>
            <a:off x="82296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 5 linkuri/email și 20/IP pe oră; răspuns identic pentru orice email</a:t>
            </a:r>
            <a:endParaRPr lang="en-US" sz="1400" dirty="0"/>
          </a:p>
        </p:txBody>
      </p:sp>
      <p:sp>
        <p:nvSpPr>
          <p:cNvPr id="23" name="card-80"/>
          <p:cNvSpPr/>
          <p:nvPr/>
        </p:nvSpPr>
        <p:spPr>
          <a:xfrm>
            <a:off x="429768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-81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-text-81"/>
          <p:cNvSpPr txBox="1"/>
          <p:nvPr/>
        </p:nvSpPr>
        <p:spPr>
          <a:xfrm>
            <a:off x="45720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-82"/>
          <p:cNvSpPr txBox="1"/>
          <p:nvPr/>
        </p:nvSpPr>
        <p:spPr>
          <a:xfrm>
            <a:off x="516636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Izolare pe firmă</a:t>
            </a:r>
            <a:endParaRPr lang="en-US" sz="1700" dirty="0"/>
          </a:p>
        </p:txBody>
      </p:sp>
      <p:sp>
        <p:nvSpPr>
          <p:cNvPr id="27" name="text-83"/>
          <p:cNvSpPr txBox="1"/>
          <p:nvPr/>
        </p:nvSpPr>
        <p:spPr>
          <a:xfrm>
            <a:off x="457200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CIF-ul vine din cheie sau sesiune; altă firmă → 403</a:t>
            </a:r>
            <a:endParaRPr lang="en-US" sz="1400" dirty="0"/>
          </a:p>
        </p:txBody>
      </p:sp>
      <p:sp>
        <p:nvSpPr>
          <p:cNvPr id="28" name="card-84"/>
          <p:cNvSpPr/>
          <p:nvPr/>
        </p:nvSpPr>
        <p:spPr>
          <a:xfrm>
            <a:off x="804672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-85"/>
          <p:cNvSpPr/>
          <p:nvPr/>
        </p:nvSpPr>
        <p:spPr>
          <a:xfrm>
            <a:off x="83210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-text-85"/>
          <p:cNvSpPr txBox="1"/>
          <p:nvPr/>
        </p:nvSpPr>
        <p:spPr>
          <a:xfrm>
            <a:off x="83210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-86"/>
          <p:cNvSpPr txBox="1"/>
          <p:nvPr/>
        </p:nvSpPr>
        <p:spPr>
          <a:xfrm>
            <a:off x="891540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Admin doar din CLI</a:t>
            </a:r>
            <a:endParaRPr lang="en-US" sz="1700" dirty="0"/>
          </a:p>
        </p:txBody>
      </p:sp>
      <p:sp>
        <p:nvSpPr>
          <p:cNvPr id="32" name="text-87"/>
          <p:cNvSpPr txBox="1"/>
          <p:nvPr/>
        </p:nvSpPr>
        <p:spPr>
          <a:xfrm>
            <a:off x="832104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Fără pagină de admin pe web; exemplele nu conțin niciodată cheia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Totul într-un singur loc</a:t>
            </a:r>
            <a:endParaRPr lang="en-US" sz="3200" dirty="0"/>
          </a:p>
        </p:txBody>
      </p:sp>
      <p:sp>
        <p:nvSpPr>
          <p:cNvPr id="3" name="card-88"/>
          <p:cNvSpPr/>
          <p:nvPr/>
        </p:nvSpPr>
        <p:spPr>
          <a:xfrm>
            <a:off x="548640" y="1600200"/>
            <a:ext cx="548640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-89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Cod</a:t>
            </a:r>
            <a:endParaRPr lang="en-US" sz="2200" dirty="0"/>
          </a:p>
        </p:txBody>
      </p:sp>
      <p:sp>
        <p:nvSpPr>
          <p:cNvPr id="5" name="text-90"/>
          <p:cNvSpPr txBox="1"/>
          <p:nvPr/>
        </p:nvSpPr>
        <p:spPr>
          <a:xfrm>
            <a:off x="914400" y="2423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v7/jobs/ — API-ul pentru joburi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v7/panel/ — paginile panoului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v7/lib/ — logică comună, blocată pe web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v7/docs/ — spec, Postman, follow-ups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devops/apikeys/ — CLI admin + setup Solr</a:t>
            </a:r>
            <a:endParaRPr lang="en-US" sz="1600" dirty="0"/>
          </a:p>
        </p:txBody>
      </p:sp>
      <p:sp>
        <p:nvSpPr>
          <p:cNvPr id="6" name="card-91"/>
          <p:cNvSpPr/>
          <p:nvPr/>
        </p:nvSpPr>
        <p:spPr>
          <a:xfrm>
            <a:off x="6309360" y="1600200"/>
            <a:ext cx="5330952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-92"/>
          <p:cNvSpPr txBox="1"/>
          <p:nvPr/>
        </p:nvSpPr>
        <p:spPr>
          <a:xfrm>
            <a:off x="667512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Date: o colecție Solr, apikeys</a:t>
            </a:r>
            <a:endParaRPr lang="en-US" sz="2200" dirty="0"/>
          </a:p>
        </p:txBody>
      </p:sp>
      <p:sp>
        <p:nvSpPr>
          <p:cNvPr id="8" name="type-0"/>
          <p:cNvSpPr/>
          <p:nvPr/>
        </p:nvSpPr>
        <p:spPr>
          <a:xfrm>
            <a:off x="667512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93"/>
          <p:cNvSpPr txBox="1"/>
          <p:nvPr/>
        </p:nvSpPr>
        <p:spPr>
          <a:xfrm>
            <a:off x="66751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</a:t>
            </a:r>
            <a:endParaRPr lang="en-US" sz="1500" dirty="0"/>
          </a:p>
        </p:txBody>
      </p:sp>
      <p:sp>
        <p:nvSpPr>
          <p:cNvPr id="10" name="text-94"/>
          <p:cNvSpPr txBox="1"/>
          <p:nvPr/>
        </p:nvSpPr>
        <p:spPr>
          <a:xfrm>
            <a:off x="85953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cheile API (hash, prefix, CIF, stare)</a:t>
            </a:r>
            <a:endParaRPr lang="en-US" sz="1500" dirty="0"/>
          </a:p>
        </p:txBody>
      </p:sp>
      <p:sp>
        <p:nvSpPr>
          <p:cNvPr id="11" name="type-1"/>
          <p:cNvSpPr/>
          <p:nvPr/>
        </p:nvSpPr>
        <p:spPr>
          <a:xfrm>
            <a:off x="6675120" y="3383280"/>
            <a:ext cx="1737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95"/>
          <p:cNvSpPr txBox="1"/>
          <p:nvPr/>
        </p:nvSpPr>
        <p:spPr>
          <a:xfrm>
            <a:off x="66751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authorization</a:t>
            </a:r>
            <a:endParaRPr lang="en-US" sz="1500" dirty="0"/>
          </a:p>
        </p:txBody>
      </p:sp>
      <p:sp>
        <p:nvSpPr>
          <p:cNvPr id="13" name="text-96"/>
          <p:cNvSpPr txBox="1"/>
          <p:nvPr/>
        </p:nvSpPr>
        <p:spPr>
          <a:xfrm>
            <a:off x="859536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emailurile autorizate în panou</a:t>
            </a:r>
            <a:endParaRPr lang="en-US" sz="1500" dirty="0"/>
          </a:p>
        </p:txBody>
      </p:sp>
      <p:sp>
        <p:nvSpPr>
          <p:cNvPr id="14" name="type-2"/>
          <p:cNvSpPr/>
          <p:nvPr/>
        </p:nvSpPr>
        <p:spPr>
          <a:xfrm>
            <a:off x="6675120" y="4297680"/>
            <a:ext cx="1737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97"/>
          <p:cNvSpPr txBox="1"/>
          <p:nvPr/>
        </p:nvSpPr>
        <p:spPr>
          <a:xfrm>
            <a:off x="6675120" y="4297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token</a:t>
            </a:r>
            <a:endParaRPr lang="en-US" sz="1500" dirty="0"/>
          </a:p>
        </p:txBody>
      </p:sp>
      <p:sp>
        <p:nvSpPr>
          <p:cNvPr id="16" name="text-98"/>
          <p:cNvSpPr txBox="1"/>
          <p:nvPr/>
        </p:nvSpPr>
        <p:spPr>
          <a:xfrm>
            <a:off x="859536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linkurile de login de unică folosință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Verificat</a:t>
            </a:r>
            <a:endParaRPr lang="en-US" sz="3200" dirty="0"/>
          </a:p>
        </p:txBody>
      </p:sp>
      <p:sp>
        <p:nvSpPr>
          <p:cNvPr id="3" name="card-99"/>
          <p:cNvSpPr/>
          <p:nvPr/>
        </p:nvSpPr>
        <p:spPr>
          <a:xfrm>
            <a:off x="54864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-100"/>
          <p:cNvSpPr txBox="1"/>
          <p:nvPr/>
        </p:nvSpPr>
        <p:spPr>
          <a:xfrm>
            <a:off x="73152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106</a:t>
            </a:r>
            <a:endParaRPr lang="en-US" sz="6600" dirty="0"/>
          </a:p>
        </p:txBody>
      </p:sp>
      <p:sp>
        <p:nvSpPr>
          <p:cNvPr id="5" name="text-101"/>
          <p:cNvSpPr txBox="1"/>
          <p:nvPr/>
        </p:nvSpPr>
        <p:spPr>
          <a:xfrm>
            <a:off x="822960" y="3611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teste automate care trec</a:t>
            </a:r>
            <a:endParaRPr lang="en-US" sz="1800" dirty="0"/>
          </a:p>
        </p:txBody>
      </p:sp>
      <p:sp>
        <p:nvSpPr>
          <p:cNvPr id="6" name="card-102"/>
          <p:cNvSpPr/>
          <p:nvPr/>
        </p:nvSpPr>
        <p:spPr>
          <a:xfrm>
            <a:off x="429768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-103"/>
          <p:cNvSpPr txBox="1"/>
          <p:nvPr/>
        </p:nvSpPr>
        <p:spPr>
          <a:xfrm>
            <a:off x="448056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6600" dirty="0"/>
          </a:p>
        </p:txBody>
      </p:sp>
      <p:sp>
        <p:nvSpPr>
          <p:cNvPr id="8" name="text-104"/>
          <p:cNvSpPr txBox="1"/>
          <p:nvPr/>
        </p:nvSpPr>
        <p:spPr>
          <a:xfrm>
            <a:off x="4572000" y="3611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requesturi în colecția Postman de test</a:t>
            </a:r>
            <a:endParaRPr lang="en-US" sz="1800" dirty="0"/>
          </a:p>
        </p:txBody>
      </p:sp>
      <p:sp>
        <p:nvSpPr>
          <p:cNvPr id="9" name="card-105"/>
          <p:cNvSpPr/>
          <p:nvPr/>
        </p:nvSpPr>
        <p:spPr>
          <a:xfrm>
            <a:off x="804672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-106"/>
          <p:cNvSpPr txBox="1"/>
          <p:nvPr/>
        </p:nvSpPr>
        <p:spPr>
          <a:xfrm>
            <a:off x="822960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6600" dirty="0"/>
          </a:p>
        </p:txBody>
      </p:sp>
      <p:sp>
        <p:nvSpPr>
          <p:cNvPr id="11" name="text-107"/>
          <p:cNvSpPr txBox="1"/>
          <p:nvPr/>
        </p:nvSpPr>
        <p:spPr>
          <a:xfrm>
            <a:off x="8321040" y="3611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vulnerabilități raportabile în review</a:t>
            </a:r>
            <a:endParaRPr lang="en-US" sz="1800" dirty="0"/>
          </a:p>
        </p:txBody>
      </p:sp>
      <p:sp>
        <p:nvSpPr>
          <p:cNvPr id="12" name="text-108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Testat cap-coadă local (Docker): panou, chei, POST/PUT/DELETE, jobul vizibil pe site.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urmează</a:t>
            </a:r>
            <a:endParaRPr lang="en-US" sz="3200" dirty="0"/>
          </a:p>
        </p:txBody>
      </p:sp>
      <p:sp>
        <p:nvSpPr>
          <p:cNvPr id="3" name="badge-10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text-109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10"/>
          <p:cNvSpPr txBox="1"/>
          <p:nvPr/>
        </p:nvSpPr>
        <p:spPr>
          <a:xfrm>
            <a:off x="132588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Trimitere email reală</a:t>
            </a:r>
            <a:endParaRPr lang="en-US" sz="2000" dirty="0"/>
          </a:p>
        </p:txBody>
      </p:sp>
      <p:sp>
        <p:nvSpPr>
          <p:cNvPr id="6" name="text-111"/>
          <p:cNvSpPr txBox="1"/>
          <p:nvPr/>
        </p:nvSpPr>
        <p:spPr>
          <a:xfrm>
            <a:off x="5120640" y="1554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Plus PANEL_BASE_URL obligatoriu și tokenul scos din log</a:t>
            </a:r>
            <a:endParaRPr lang="en-US" sz="1600" dirty="0"/>
          </a:p>
        </p:txBody>
      </p:sp>
      <p:sp>
        <p:nvSpPr>
          <p:cNvPr id="7" name="badge-112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ext-112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113"/>
          <p:cNvSpPr txBox="1"/>
          <p:nvPr/>
        </p:nvSpPr>
        <p:spPr>
          <a:xfrm>
            <a:off x="1325880" y="2560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Integrare sistem extern</a:t>
            </a:r>
            <a:endParaRPr lang="en-US" sz="2000" dirty="0"/>
          </a:p>
        </p:txBody>
      </p:sp>
      <p:sp>
        <p:nvSpPr>
          <p:cNvPr id="10" name="text-114"/>
          <p:cNvSpPr txBox="1"/>
          <p:nvPr/>
        </p:nvSpPr>
        <p:spPr>
          <a:xfrm>
            <a:off x="5120640" y="25603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Autorizarea emailurilor fără admin</a:t>
            </a:r>
            <a:endParaRPr lang="en-US" sz="1600" dirty="0"/>
          </a:p>
        </p:txBody>
      </p:sp>
      <p:sp>
        <p:nvSpPr>
          <p:cNvPr id="11" name="badge-115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text-1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-116"/>
          <p:cNvSpPr txBox="1"/>
          <p:nvPr/>
        </p:nvSpPr>
        <p:spPr>
          <a:xfrm>
            <a:off x="1325880" y="3566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Securizare v1</a:t>
            </a:r>
            <a:endParaRPr lang="en-US" sz="2000" dirty="0"/>
          </a:p>
        </p:txBody>
      </p:sp>
      <p:sp>
        <p:nvSpPr>
          <p:cNvPr id="14" name="text-117"/>
          <p:cNvSpPr txBox="1"/>
          <p:nvPr/>
        </p:nvSpPr>
        <p:spPr>
          <a:xfrm>
            <a:off x="5120640" y="35661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Autentificare pe upload-ul scraperilor; să nu suprascrie joburile firmelor</a:t>
            </a:r>
            <a:endParaRPr lang="en-US" sz="1600" dirty="0"/>
          </a:p>
        </p:txBody>
      </p:sp>
      <p:sp>
        <p:nvSpPr>
          <p:cNvPr id="15" name="badge-11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118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-119"/>
          <p:cNvSpPr txBox="1"/>
          <p:nvPr/>
        </p:nvSpPr>
        <p:spPr>
          <a:xfrm>
            <a:off x="1325880" y="4572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Frontend pe core-ul job</a:t>
            </a:r>
            <a:endParaRPr lang="en-US" sz="2000" dirty="0"/>
          </a:p>
        </p:txBody>
      </p:sp>
      <p:sp>
        <p:nvSpPr>
          <p:cNvPr id="18" name="text-120"/>
          <p:cNvSpPr txBox="1"/>
          <p:nvPr/>
        </p:nvSpPr>
        <p:spPr>
          <a:xfrm>
            <a:off x="5120640" y="4572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Build-ul actual caută în jobs (v0): joburile v7 nu ar apărea</a:t>
            </a:r>
            <a:endParaRPr lang="en-US" sz="1600" dirty="0"/>
          </a:p>
        </p:txBody>
      </p:sp>
      <p:sp>
        <p:nvSpPr>
          <p:cNvPr id="19" name="text-121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Lista completă: v7/docs/follow-ups.md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7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 și întrebări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4023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Panou: /v7/panel/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API: /v7/jobs/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Documentație: v7/readme.md</a:t>
            </a:r>
            <a:endParaRPr lang="en-US" sz="1800" dirty="0"/>
          </a:p>
        </p:txBody>
      </p:sp>
      <p:pic>
        <p:nvPicPr>
          <p:cNvPr id="4" name="ostrich" descr="C:\Users\tomes\AppData\Local\Temp\claude\C--volunteer\603584dd-30c7-42fd-867d-9c53379329df\scratchpad\deck\assets\str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viitor.ro">
  <a:themeElements>
    <a:clrScheme name="peviitor.ro">
      <a:dk1>
        <a:srgbClr val="4B4646"/>
      </a:dk1>
      <a:lt1>
        <a:srgbClr val="FFFFFF"/>
      </a:lt1>
      <a:dk2>
        <a:srgbClr val="28536B"/>
      </a:dk2>
      <a:lt2>
        <a:srgbClr val="F0F6F7"/>
      </a:lt2>
      <a:accent1>
        <a:srgbClr val="2F7973"/>
      </a:accent1>
      <a:accent2>
        <a:srgbClr val="F3781D"/>
      </a:accent2>
      <a:accent3>
        <a:srgbClr val="4A8990"/>
      </a:accent3>
      <a:accent4>
        <a:srgbClr val="6F777A"/>
      </a:accent4>
      <a:accent5>
        <a:srgbClr val="D2E2E4"/>
      </a:accent5>
      <a:accent6>
        <a:srgbClr val="FF8A65"/>
      </a:accent6>
      <a:hlink>
        <a:srgbClr val="2F7973"/>
      </a:hlink>
      <a:folHlink>
        <a:srgbClr val="4A8990"/>
      </a:folHlink>
    </a:clrScheme>
    <a:fontScheme name="peviitor.ro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peviitor v7 — joburi publicate de firme prin API key</dc:title>
  <dc:subject>PptxGenJS Presentation</dc:subject>
  <dc:creator>peviitor.ro</dc:creator>
  <cp:lastModifiedBy>peviitor.ro</cp:lastModifiedBy>
  <cp:revision>1</cp:revision>
  <dcterms:created xsi:type="dcterms:W3CDTF">2026-10-18T12:43:16Z</dcterms:created>
  <dcterms:modified xsi:type="dcterms:W3CDTF">2026-10-18T12:43:16Z</dcterms:modified>
</cp:coreProperties>
</file>